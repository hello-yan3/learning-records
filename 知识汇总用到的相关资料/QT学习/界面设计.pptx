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7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68" r:id="rId16"/>
    <p:sldId id="271" r:id="rId17"/>
    <p:sldId id="269" r:id="rId18"/>
    <p:sldId id="270" r:id="rId19"/>
    <p:sldId id="272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2025/8/30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9FE8097-0A75-9DC6-0B54-5FC7D5BAAB03}"/>
              </a:ext>
            </a:extLst>
          </p:cNvPr>
          <p:cNvSpPr txBox="1"/>
          <p:nvPr/>
        </p:nvSpPr>
        <p:spPr>
          <a:xfrm>
            <a:off x="3951823" y="2767280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/>
              <a:t>界面设计</a:t>
            </a:r>
          </a:p>
        </p:txBody>
      </p:sp>
    </p:spTree>
    <p:extLst>
      <p:ext uri="{BB962C8B-B14F-4D97-AF65-F5344CB8AC3E}">
        <p14:creationId xmlns:p14="http://schemas.microsoft.com/office/powerpoint/2010/main" val="118115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3F4C3A3-44B6-C68F-0868-F89704CED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4A1492F-C753-F370-1257-25823119DAFF}"/>
              </a:ext>
            </a:extLst>
          </p:cNvPr>
          <p:cNvSpPr/>
          <p:nvPr/>
        </p:nvSpPr>
        <p:spPr>
          <a:xfrm>
            <a:off x="926123" y="1975338"/>
            <a:ext cx="2280139" cy="2461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937E73-36C7-1BE9-5EF9-C411BEB224A4}"/>
              </a:ext>
            </a:extLst>
          </p:cNvPr>
          <p:cNvSpPr txBox="1"/>
          <p:nvPr/>
        </p:nvSpPr>
        <p:spPr>
          <a:xfrm>
            <a:off x="926123" y="2391508"/>
            <a:ext cx="55005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双击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ui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文件，自动打开设计界面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ui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文件本质是一个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.xml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文件</a:t>
            </a:r>
          </a:p>
          <a:p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在 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Run/Build 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之后，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QT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会根据 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.ui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文件内容，自动生成一个 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ui_×××.h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文件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zh-CN" altLang="en-US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C1AB05-5244-D2DA-32BD-22F3B8EC8747}"/>
              </a:ext>
            </a:extLst>
          </p:cNvPr>
          <p:cNvSpPr/>
          <p:nvPr/>
        </p:nvSpPr>
        <p:spPr>
          <a:xfrm>
            <a:off x="1389186" y="1184029"/>
            <a:ext cx="1312984" cy="2461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1F1A307-1277-749B-5D39-9802EE34E032}"/>
              </a:ext>
            </a:extLst>
          </p:cNvPr>
          <p:cNvCxnSpPr>
            <a:cxnSpLocks/>
          </p:cNvCxnSpPr>
          <p:nvPr/>
        </p:nvCxnSpPr>
        <p:spPr>
          <a:xfrm flipH="1" flipV="1">
            <a:off x="2784231" y="1330569"/>
            <a:ext cx="2584938" cy="19987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87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F837B88-9B77-1EEA-CD3B-224D28810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77379C3-57F1-8D92-E718-2D7D0255E60A}"/>
              </a:ext>
            </a:extLst>
          </p:cNvPr>
          <p:cNvSpPr/>
          <p:nvPr/>
        </p:nvSpPr>
        <p:spPr>
          <a:xfrm>
            <a:off x="926123" y="580292"/>
            <a:ext cx="2280139" cy="63363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0BFD2F-7C72-268E-5ECE-013C75696176}"/>
              </a:ext>
            </a:extLst>
          </p:cNvPr>
          <p:cNvSpPr txBox="1"/>
          <p:nvPr/>
        </p:nvSpPr>
        <p:spPr>
          <a:xfrm>
            <a:off x="2066192" y="134229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组件面板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DFEEC7-5975-0806-F60B-F62CC26D372D}"/>
              </a:ext>
            </a:extLst>
          </p:cNvPr>
          <p:cNvSpPr/>
          <p:nvPr/>
        </p:nvSpPr>
        <p:spPr>
          <a:xfrm>
            <a:off x="3335216" y="650632"/>
            <a:ext cx="5996353" cy="4015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D88295-C474-3597-2608-8FEC08708BC0}"/>
              </a:ext>
            </a:extLst>
          </p:cNvPr>
          <p:cNvSpPr txBox="1"/>
          <p:nvPr/>
        </p:nvSpPr>
        <p:spPr>
          <a:xfrm>
            <a:off x="3654669" y="40520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待设计窗体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5EFA07-9EDE-8750-65FC-B0DB6990171E}"/>
              </a:ext>
            </a:extLst>
          </p:cNvPr>
          <p:cNvSpPr/>
          <p:nvPr/>
        </p:nvSpPr>
        <p:spPr>
          <a:xfrm>
            <a:off x="3288324" y="4771293"/>
            <a:ext cx="6172199" cy="19182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6618E5-105D-F21F-986D-D7C1D2F8DC3E}"/>
              </a:ext>
            </a:extLst>
          </p:cNvPr>
          <p:cNvSpPr txBox="1"/>
          <p:nvPr/>
        </p:nvSpPr>
        <p:spPr>
          <a:xfrm>
            <a:off x="4886790" y="6022702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信号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槽 编辑器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A49D10-B59C-9BFA-AF34-D2D27546BDAD}"/>
              </a:ext>
            </a:extLst>
          </p:cNvPr>
          <p:cNvSpPr txBox="1"/>
          <p:nvPr/>
        </p:nvSpPr>
        <p:spPr>
          <a:xfrm>
            <a:off x="3288324" y="602270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动作编辑器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11B595-9EC3-29E5-8E27-8BAA3878CABC}"/>
              </a:ext>
            </a:extLst>
          </p:cNvPr>
          <p:cNvSpPr/>
          <p:nvPr/>
        </p:nvSpPr>
        <p:spPr>
          <a:xfrm>
            <a:off x="3247293" y="310662"/>
            <a:ext cx="2848707" cy="2696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66937-834D-AE0F-8BC6-80128945312A}"/>
              </a:ext>
            </a:extLst>
          </p:cNvPr>
          <p:cNvSpPr txBox="1"/>
          <p:nvPr/>
        </p:nvSpPr>
        <p:spPr>
          <a:xfrm>
            <a:off x="6184763" y="21096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布局及界面设计工具栏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6CFCD9-CD50-CBB5-FFB9-8AF8CA1C402E}"/>
              </a:ext>
            </a:extLst>
          </p:cNvPr>
          <p:cNvSpPr/>
          <p:nvPr/>
        </p:nvSpPr>
        <p:spPr>
          <a:xfrm>
            <a:off x="9460523" y="609603"/>
            <a:ext cx="2421429" cy="2977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86F28D-218B-F9E6-D999-0FEC7F72AFC2}"/>
              </a:ext>
            </a:extLst>
          </p:cNvPr>
          <p:cNvSpPr txBox="1"/>
          <p:nvPr/>
        </p:nvSpPr>
        <p:spPr>
          <a:xfrm>
            <a:off x="9388962" y="21096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对象浏览器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F5A348-9F5D-F2D5-2B84-17DE766B2206}"/>
              </a:ext>
            </a:extLst>
          </p:cNvPr>
          <p:cNvSpPr/>
          <p:nvPr/>
        </p:nvSpPr>
        <p:spPr>
          <a:xfrm>
            <a:off x="9460522" y="3703106"/>
            <a:ext cx="2421429" cy="2977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E666209-BC7A-8A01-010C-C467B45F36B0}"/>
              </a:ext>
            </a:extLst>
          </p:cNvPr>
          <p:cNvSpPr txBox="1"/>
          <p:nvPr/>
        </p:nvSpPr>
        <p:spPr>
          <a:xfrm>
            <a:off x="10001822" y="628934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属性编辑器</a:t>
            </a:r>
          </a:p>
        </p:txBody>
      </p:sp>
    </p:spTree>
    <p:extLst>
      <p:ext uri="{BB962C8B-B14F-4D97-AF65-F5344CB8AC3E}">
        <p14:creationId xmlns:p14="http://schemas.microsoft.com/office/powerpoint/2010/main" val="111576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F4B666-5644-8479-5897-DB4248242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3133E43-A2B1-8099-16B2-BA9526171F30}"/>
              </a:ext>
            </a:extLst>
          </p:cNvPr>
          <p:cNvSpPr/>
          <p:nvPr/>
        </p:nvSpPr>
        <p:spPr>
          <a:xfrm>
            <a:off x="3247293" y="310662"/>
            <a:ext cx="920261" cy="293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8CF6DE-A2C7-120E-C393-B92609A1EF80}"/>
              </a:ext>
            </a:extLst>
          </p:cNvPr>
          <p:cNvSpPr txBox="1"/>
          <p:nvPr/>
        </p:nvSpPr>
        <p:spPr>
          <a:xfrm>
            <a:off x="1905840" y="74145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最左侧选中是编辑界面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另外三个不常用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014F9F-F116-A78D-B664-558148C3D277}"/>
              </a:ext>
            </a:extLst>
          </p:cNvPr>
          <p:cNvSpPr/>
          <p:nvPr/>
        </p:nvSpPr>
        <p:spPr>
          <a:xfrm>
            <a:off x="4167554" y="310662"/>
            <a:ext cx="1869831" cy="293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81E490-8B61-348A-F801-BF8FEB553DCF}"/>
              </a:ext>
            </a:extLst>
          </p:cNvPr>
          <p:cNvSpPr txBox="1"/>
          <p:nvPr/>
        </p:nvSpPr>
        <p:spPr>
          <a:xfrm>
            <a:off x="4380390" y="794211"/>
            <a:ext cx="4706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主要与界面布局相关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选中一个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widget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类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之后点击上面的布局，界面控件将有序排布</a:t>
            </a:r>
          </a:p>
        </p:txBody>
      </p:sp>
    </p:spTree>
    <p:extLst>
      <p:ext uri="{BB962C8B-B14F-4D97-AF65-F5344CB8AC3E}">
        <p14:creationId xmlns:p14="http://schemas.microsoft.com/office/powerpoint/2010/main" val="165729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A9AE6-1021-F484-6ED0-7FC4F2F6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EE94BCB-F963-3A9B-E353-1487A695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A316287-0107-A896-2F52-BAAA9EE6C6D6}"/>
              </a:ext>
            </a:extLst>
          </p:cNvPr>
          <p:cNvSpPr/>
          <p:nvPr/>
        </p:nvSpPr>
        <p:spPr>
          <a:xfrm>
            <a:off x="9476154" y="571012"/>
            <a:ext cx="2303096" cy="30548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AD4663-7A6A-8FCA-F3D4-842DE2AAE24D}"/>
              </a:ext>
            </a:extLst>
          </p:cNvPr>
          <p:cNvSpPr txBox="1"/>
          <p:nvPr/>
        </p:nvSpPr>
        <p:spPr>
          <a:xfrm>
            <a:off x="4273550" y="692611"/>
            <a:ext cx="5410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这里最主要的作用为：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1. 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明确界面控件的对象名称，以及类型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（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 btnBin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对象类型是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QPushButton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）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2. 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明确界面的从属关系（哪个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label/button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在哪个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widget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中）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（当前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btnBin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对象在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gridLayout_2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中，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    gridLayout_2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在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Widget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中）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3. 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界面布局展示（布局好后的界面会显示布局标志）</a:t>
            </a:r>
            <a:endParaRPr lang="en-US" altLang="zh-CN" b="1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（布局前：                       布局后：                   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30B9B2-CD3D-0CE6-EF8A-DF8B83696F73}"/>
              </a:ext>
            </a:extLst>
          </p:cNvPr>
          <p:cNvSpPr txBox="1"/>
          <p:nvPr/>
        </p:nvSpPr>
        <p:spPr>
          <a:xfrm>
            <a:off x="9476154" y="386346"/>
            <a:ext cx="131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对象名称</a:t>
            </a:r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3942C9-B8D4-0B76-CA38-3D8339944D72}"/>
              </a:ext>
            </a:extLst>
          </p:cNvPr>
          <p:cNvSpPr txBox="1"/>
          <p:nvPr/>
        </p:nvSpPr>
        <p:spPr>
          <a:xfrm>
            <a:off x="10790604" y="386346"/>
            <a:ext cx="1314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类型</a:t>
            </a:r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3F1B673-6050-1EFA-2C9F-FC3A3F72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26"/>
          <a:stretch>
            <a:fillRect/>
          </a:stretch>
        </p:blipFill>
        <p:spPr>
          <a:xfrm>
            <a:off x="5398445" y="2918812"/>
            <a:ext cx="1257365" cy="3693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F2EE106-F634-9070-2754-8A5A59D855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435" b="-3851"/>
          <a:stretch>
            <a:fillRect/>
          </a:stretch>
        </p:blipFill>
        <p:spPr>
          <a:xfrm>
            <a:off x="7535757" y="2963119"/>
            <a:ext cx="1060450" cy="22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55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A04F-2985-90CB-F847-672F2799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6E72C81-CB4D-9725-8935-B321F0C9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1C633A5-3CB3-81AE-F28D-7EC3595FF801}"/>
              </a:ext>
            </a:extLst>
          </p:cNvPr>
          <p:cNvSpPr/>
          <p:nvPr/>
        </p:nvSpPr>
        <p:spPr>
          <a:xfrm>
            <a:off x="9537825" y="3752362"/>
            <a:ext cx="2303096" cy="30548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87F102-C2B7-6FF9-4666-8E7B71C5FA03}"/>
              </a:ext>
            </a:extLst>
          </p:cNvPr>
          <p:cNvSpPr txBox="1"/>
          <p:nvPr/>
        </p:nvSpPr>
        <p:spPr>
          <a:xfrm>
            <a:off x="8686800" y="3299992"/>
            <a:ext cx="334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这里修改控件的位置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大小等：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CDC0523-8AD5-D117-C230-530CA75E62A9}"/>
              </a:ext>
            </a:extLst>
          </p:cNvPr>
          <p:cNvSpPr txBox="1"/>
          <p:nvPr/>
        </p:nvSpPr>
        <p:spPr>
          <a:xfrm>
            <a:off x="7698254" y="3752362"/>
            <a:ext cx="1977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详情见下一页：</a:t>
            </a:r>
          </a:p>
        </p:txBody>
      </p:sp>
    </p:spTree>
    <p:extLst>
      <p:ext uri="{BB962C8B-B14F-4D97-AF65-F5344CB8AC3E}">
        <p14:creationId xmlns:p14="http://schemas.microsoft.com/office/powerpoint/2010/main" val="415086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72C5-C89B-484D-3414-DC1C701DD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7B20D5EC-3A2C-E9C0-2023-8DF6D1990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934" y="0"/>
            <a:ext cx="9172876" cy="720197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一、核心基类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QObject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：Qt 对象（Qt 的核心基类，所有支持信号与槽的对象均继承于此）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QWidget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：窗口部件（所有可视化界面元素的基类，如按钮、标签等）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QFrame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：框架部件（带有边框的容器类部件，可用于装饰或布局）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QLabel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：标签（用于显示文本或图像的静态部件）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二、QObject 及 QWidget 通用属性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objectName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：对象名称（用于在代码中标识或查找特定对象）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enabled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：启用状态（控制部件是否可交互，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 Unicode MS"/>
                <a:ea typeface="Menlo"/>
              </a:rPr>
              <a:t>false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ea typeface="Inter"/>
              </a:rPr>
              <a:t>时为灰色不可用）</a:t>
            </a:r>
            <a:endParaRPr kumimoji="0" lang="zh-CN" altLang="zh-CN" sz="13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geometry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：几何布局（部件在父窗口中的位置和大小，含 x、y 坐标及宽高）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sizePolicy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：尺寸策略（控制部件在布局中如何响应大小调整，如 “固定大小”“可扩展”）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minimumSize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：最小尺寸（部件可缩小的极限大小）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maximumSize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：最大尺寸（部件可放大的极限大小）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sizeIncrement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：尺寸增量（部件大小调整时的步进值，仅在特定布局中生效）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baseSize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：基础尺寸（计算部件动态大小的基准值）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palette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：调色板（控制部件的颜色方案，如背景色、文本色）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font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：字体（部件显示文本时使用的字体样式、大小等）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cursor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：光标（鼠标悬停在部件上时显示的光标样式，如箭头、手形）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mouseTracking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：鼠标跟踪（是否无需点击即可触发鼠标移动事件）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tabletTracking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：数位板跟踪（是否支持数位板设备的位置跟踪）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focusPolicy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：焦点策略（部件获取键盘焦点的方式，如 “点击获取”“-tab 键切换获取”）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contextMenuPolicy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：上下文菜单策略（右键点击时显示菜单的触发规则）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acceptDrops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：接受拖放（是否允许其他部件拖放内容到当前部件）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toolTip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：工具提示（鼠标悬停时显示的简短说明文本）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toolTipDuration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：工具提示时长（工具提示显示的持续时间，单位为毫秒）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statusTip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：状态提示（在窗口状态栏中显示的说明文本）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whatsThis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：“这是什么” 提示（通过 “帮助 &gt; 这是什么” 功能触发的详细说明）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accessibleName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：无障碍名称（为屏幕阅读器等辅助设备提供的部件标识）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accessibleDescription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：无障碍描述（为辅助设备提供的部件功能说明，原词 “Descripti” 应为 “Description” 的缩写）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layoutDirection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：布局方向（文本及控件的排列方向，如 “从左到右”“从右到左”）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autoFillBackground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：自动填充背景（是否自动使用调色板中的背景色填充部件）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styleSheet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：样式表（通过 CSS 语法自定义部件外观的规则）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locale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：区域设置（控制日期、时间、数字等的显示格式，如中文简体、英文美国）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inputMethodHints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：输入法提示（为输入法提供的输入规则提示，如 “仅允许数字输入”）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3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8EBA8D-9168-F001-07F2-71A853A1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98" y="0"/>
            <a:ext cx="1008204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681B3EE-C18C-59F6-0235-46813839AA61}"/>
              </a:ext>
            </a:extLst>
          </p:cNvPr>
          <p:cNvSpPr txBox="1"/>
          <p:nvPr/>
        </p:nvSpPr>
        <p:spPr>
          <a:xfrm>
            <a:off x="-5715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对于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Qlabel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66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89B4-DBC2-7DA0-E994-D1FC6546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D5676C-860B-2BB1-7A2C-CD9C6B8C1EDE}"/>
              </a:ext>
            </a:extLst>
          </p:cNvPr>
          <p:cNvSpPr txBox="1"/>
          <p:nvPr/>
        </p:nvSpPr>
        <p:spPr>
          <a:xfrm>
            <a:off x="2512194" y="12680"/>
            <a:ext cx="773035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三、QFrame 专属属性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frameShape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：框架形状（边框的样式，如 “矩形”“圆形”“无边框”）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frameShadow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：框架阴影（边框的阴影效果，如 “凹陷”“凸起”“无阴影”）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lineWidth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：线宽（框架边框的线条宽度）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midLineWidth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：中线宽度（框架中间分隔线的宽度，仅部分框架形状生效）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3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四、QLabel 专属属性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text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：文本（标签显示的文本内容）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textFormat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：文本格式（文本的解析方式，如 “纯文本”“富文本（HTML）”）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pixmap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：像素图（标签显示的图像对象，支持 PNG、JPG 等格式）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scaledContents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：内容缩放（是否让图像 / 文本自适应标签的大小）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alignment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：对齐方式（文本 / 图像在标签内的对齐位置，如 “居中”“左对齐”）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wordWrap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：自动换行（文本是否根据标签宽度自动换行）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margin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：边距（标签内容与边框之间的间距）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indent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：缩进（文本第一行的缩进距离）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openExternalLinks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：打开外部链接（是否允许直接点击标签中的 URL 链接跳转）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textInteractionFlags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：文本交互标志（控制文本是否可选中、可编辑等交互行为）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buddy</a:t>
            </a:r>
            <a:r>
              <a:rPr kumimoji="0" lang="zh-CN" altLang="zh-CN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Inter"/>
              </a:rPr>
              <a:t>：伙伴部件（与标签关联的交互部件，如点击标签可将焦点切换到关联的输入框）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7F4CFB-2892-E07B-9511-2AD2DBEE0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98" y="0"/>
            <a:ext cx="1008204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537677-F737-79D6-08EA-E8A367349534}"/>
              </a:ext>
            </a:extLst>
          </p:cNvPr>
          <p:cNvSpPr txBox="1"/>
          <p:nvPr/>
        </p:nvSpPr>
        <p:spPr>
          <a:xfrm>
            <a:off x="-5715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对于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Qlabel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：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9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6E69536-7C71-B800-B2A1-C1825178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6" y="369332"/>
            <a:ext cx="2249154" cy="278026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466E52D-D71B-95DD-A9A8-0086505595FB}"/>
              </a:ext>
            </a:extLst>
          </p:cNvPr>
          <p:cNvSpPr txBox="1"/>
          <p:nvPr/>
        </p:nvSpPr>
        <p:spPr>
          <a:xfrm>
            <a:off x="-5715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对于</a:t>
            </a:r>
            <a:r>
              <a:rPr lang="en-US" altLang="zh-CN" b="1">
                <a:solidFill>
                  <a:srgbClr val="FF0000"/>
                </a:solidFill>
                <a:highlight>
                  <a:srgbClr val="FFFF00"/>
                </a:highlight>
              </a:rPr>
              <a:t>QPushButton</a:t>
            </a:r>
            <a:r>
              <a:rPr lang="zh-CN" altLang="en-US" b="1">
                <a:solidFill>
                  <a:srgbClr val="FF0000"/>
                </a:solidFill>
                <a:highlight>
                  <a:srgbClr val="FFFF00"/>
                </a:highlight>
              </a:rPr>
              <a:t>：</a:t>
            </a: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43EFC3-DFC0-7298-57B8-081BB3478A7F}"/>
              </a:ext>
            </a:extLst>
          </p:cNvPr>
          <p:cNvSpPr txBox="1"/>
          <p:nvPr/>
        </p:nvSpPr>
        <p:spPr>
          <a:xfrm>
            <a:off x="2683669" y="62255"/>
            <a:ext cx="878231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一、基类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QAbstractButton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：抽象按钮（所有按钮类的基类，定义了按钮的通用功能）</a:t>
            </a:r>
            <a:endParaRPr lang="en-US" altLang="zh-CN" sz="1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en-US" sz="1200" b="1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二、</a:t>
            </a:r>
            <a:r>
              <a:rPr lang="en-US" altLang="zh-CN" sz="1200" b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QAbstractButton </a:t>
            </a: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通用属性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text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：文本（按钮上显示的文字内容）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icon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：图标（按钮上显示的图标）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iconSize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：图标大小（图标的宽高尺寸）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shortcut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：快捷键（触发按钮功能的键盘快捷键）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checkable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：可勾选（按钮是否支持选中 </a:t>
            </a: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/ 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未选中的切换状态）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checked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：已勾选（按钮当前是否处于选中状态，仅 </a:t>
            </a: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checkable 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为 </a:t>
            </a: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true 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时有效）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autoRepeat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：自动重复（按住按钮时是否自动重复触发点击事件）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autoExclusive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：自动互斥（在同一父部件中，是否与其他同类型按钮形成互斥组，即只能有一个被选中）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autoRepeatDelay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：自动重复延迟（按住按钮后，开始自动重复触发前的等待时间，单位毫秒）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autoRepeatInterval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：自动重复间隔（自动重复触发时的时间间隔，单位毫秒）</a:t>
            </a:r>
            <a:endParaRPr lang="en-US" altLang="zh-CN" sz="12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en-US" sz="1200" b="1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三、</a:t>
            </a:r>
            <a:r>
              <a:rPr lang="en-US" altLang="zh-CN" sz="1200" b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QPushButton </a:t>
            </a:r>
            <a:r>
              <a:rPr lang="zh-CN" altLang="en-US" sz="1200" b="1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专属属性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autoDefault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：自动默认（是否自动成为默认按钮，当用户按 </a:t>
            </a: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Enter 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键时触发）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default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：默认按钮（是否设为窗口的默认按钮，通常会有特殊外观标识）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flat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：扁平化（按钮是否采用扁平化样式，不显示边框背景，仅鼠标悬停时显示）</a:t>
            </a:r>
          </a:p>
        </p:txBody>
      </p:sp>
    </p:spTree>
    <p:extLst>
      <p:ext uri="{BB962C8B-B14F-4D97-AF65-F5344CB8AC3E}">
        <p14:creationId xmlns:p14="http://schemas.microsoft.com/office/powerpoint/2010/main" val="224719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C667-CC5A-C557-3831-C15BFDED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D6437E18-33DF-6464-2124-2F6F014D5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96" y="88795"/>
            <a:ext cx="5435771" cy="325731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8C878D4-2542-CBFA-EE2F-34A830EC57DD}"/>
              </a:ext>
            </a:extLst>
          </p:cNvPr>
          <p:cNvSpPr/>
          <p:nvPr/>
        </p:nvSpPr>
        <p:spPr>
          <a:xfrm>
            <a:off x="92863" y="350517"/>
            <a:ext cx="2531804" cy="9663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C6B312-66C7-7226-F2B4-ADD6299F713D}"/>
              </a:ext>
            </a:extLst>
          </p:cNvPr>
          <p:cNvSpPr/>
          <p:nvPr/>
        </p:nvSpPr>
        <p:spPr>
          <a:xfrm>
            <a:off x="92863" y="1527906"/>
            <a:ext cx="2531804" cy="4786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215ADD-C5C9-3E4F-EE84-8DF427656293}"/>
              </a:ext>
            </a:extLst>
          </p:cNvPr>
          <p:cNvSpPr txBox="1"/>
          <p:nvPr/>
        </p:nvSpPr>
        <p:spPr>
          <a:xfrm>
            <a:off x="5596467" y="237750"/>
            <a:ext cx="6096000" cy="100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>
                <a:solidFill>
                  <a:srgbClr val="000000"/>
                </a:solidFill>
                <a:effectLst/>
                <a:latin typeface="Inter"/>
              </a:rPr>
              <a:t>布局管理器（</a:t>
            </a:r>
            <a:r>
              <a:rPr lang="en-US" altLang="zh-CN" sz="1600" b="1" i="0">
                <a:solidFill>
                  <a:srgbClr val="000000"/>
                </a:solidFill>
                <a:effectLst/>
                <a:latin typeface="Inter"/>
              </a:rPr>
              <a:t>Layouts</a:t>
            </a:r>
            <a:r>
              <a:rPr lang="zh-CN" altLang="en-US" sz="1600" b="1" i="0">
                <a:solidFill>
                  <a:srgbClr val="000000"/>
                </a:solidFill>
                <a:effectLst/>
                <a:latin typeface="Inter"/>
              </a:rPr>
              <a:t>）功能说明</a:t>
            </a:r>
          </a:p>
          <a:p>
            <a:pPr algn="l">
              <a:lnSpc>
                <a:spcPts val="2100"/>
              </a:lnSpc>
              <a:buNone/>
            </a:pPr>
            <a:r>
              <a:rPr lang="zh-CN" altLang="en-US" sz="1600" b="0" i="0">
                <a:effectLst/>
                <a:latin typeface="Inter"/>
              </a:rPr>
              <a:t>布局管理器用于自动排列界面上的控件，确保在窗口大小改变时，控件能保持合理的位置和大小关系，避免手动调整每个控件的坐标。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749B2B-6F85-D592-6477-88C5D311650D}"/>
              </a:ext>
            </a:extLst>
          </p:cNvPr>
          <p:cNvSpPr txBox="1"/>
          <p:nvPr/>
        </p:nvSpPr>
        <p:spPr>
          <a:xfrm>
            <a:off x="5596467" y="149876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>
                <a:solidFill>
                  <a:srgbClr val="000000"/>
                </a:solidFill>
                <a:effectLst/>
                <a:latin typeface="Inter"/>
              </a:rPr>
              <a:t>间隔器（</a:t>
            </a:r>
            <a:r>
              <a:rPr lang="en-US" altLang="zh-CN" sz="1600" b="1" i="0">
                <a:solidFill>
                  <a:srgbClr val="000000"/>
                </a:solidFill>
                <a:effectLst/>
                <a:latin typeface="Inter"/>
              </a:rPr>
              <a:t>Spacers</a:t>
            </a:r>
            <a:r>
              <a:rPr lang="zh-CN" altLang="en-US" sz="1600" b="1" i="0">
                <a:solidFill>
                  <a:srgbClr val="000000"/>
                </a:solidFill>
                <a:effectLst/>
                <a:latin typeface="Inter"/>
              </a:rPr>
              <a:t>）功能说明</a:t>
            </a:r>
          </a:p>
          <a:p>
            <a:pPr algn="l">
              <a:lnSpc>
                <a:spcPts val="2100"/>
              </a:lnSpc>
              <a:buNone/>
            </a:pPr>
            <a:r>
              <a:rPr lang="zh-CN" altLang="en-US" sz="1600" b="0" i="0">
                <a:effectLst/>
                <a:latin typeface="Inter"/>
              </a:rPr>
              <a:t>间隔器用于在布局中创建空白区域，调整控件之间的间距或填充布局中的空余空间，使界面布局更美观、合理。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360813B-7302-E890-B536-8053ABB03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128114"/>
              </p:ext>
            </p:extLst>
          </p:nvPr>
        </p:nvGraphicFramePr>
        <p:xfrm>
          <a:off x="92863" y="3557124"/>
          <a:ext cx="11955204" cy="2666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04">
                  <a:extLst>
                    <a:ext uri="{9D8B030D-6E8A-4147-A177-3AD203B41FA5}">
                      <a16:colId xmlns:a16="http://schemas.microsoft.com/office/drawing/2014/main" val="4277970658"/>
                    </a:ext>
                  </a:extLst>
                </a:gridCol>
                <a:gridCol w="4981132">
                  <a:extLst>
                    <a:ext uri="{9D8B030D-6E8A-4147-A177-3AD203B41FA5}">
                      <a16:colId xmlns:a16="http://schemas.microsoft.com/office/drawing/2014/main" val="101773774"/>
                    </a:ext>
                  </a:extLst>
                </a:gridCol>
                <a:gridCol w="3985068">
                  <a:extLst>
                    <a:ext uri="{9D8B030D-6E8A-4147-A177-3AD203B41FA5}">
                      <a16:colId xmlns:a16="http://schemas.microsoft.com/office/drawing/2014/main" val="1199143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类型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功能描述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适用控件排列需求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0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Vertical Layout</a:t>
                      </a:r>
                      <a:r>
                        <a:rPr lang="en-US" sz="1200" b="0">
                          <a:effectLst/>
                        </a:rPr>
                        <a:t>（垂直布局）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沿垂直方向（从上到下）排列控件，控件会按顺序垂直分布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控件需要垂直顺序排列，且宽度保持一致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8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Horizontal Layout</a:t>
                      </a:r>
                      <a:r>
                        <a:rPr lang="en-US" sz="1200" b="0">
                          <a:effectLst/>
                        </a:rPr>
                        <a:t>（水平布局）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沿水平方向（从左到右）排列控件，控件会按顺序水平分布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控件需要水平顺序排列，且高度保持一致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3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Grid Layout</a:t>
                      </a:r>
                      <a:r>
                        <a:rPr lang="en-US" sz="1200" b="0">
                          <a:effectLst/>
                        </a:rPr>
                        <a:t>（网格布局）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以行列网格形式排列控件，可指定控件占据的行数和列数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控件需要二维网格结构，支持不规则排列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72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Form Layout</a:t>
                      </a:r>
                      <a:r>
                        <a:rPr lang="en-US" sz="1200" b="0">
                          <a:effectLst/>
                        </a:rPr>
                        <a:t>（</a:t>
                      </a:r>
                      <a:r>
                        <a:rPr lang="zh-CN" altLang="en-US" sz="1200" b="0">
                          <a:effectLst/>
                        </a:rPr>
                        <a:t>表单布局）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专门用于表单设计，按 “标签 </a:t>
                      </a:r>
                      <a:r>
                        <a:rPr lang="en-US" altLang="zh-CN" sz="1200" b="0">
                          <a:effectLst/>
                        </a:rPr>
                        <a:t>- </a:t>
                      </a:r>
                      <a:r>
                        <a:rPr lang="zh-CN" altLang="en-US" sz="1200" b="0">
                          <a:effectLst/>
                        </a:rPr>
                        <a:t>输入控件” 成对排列（左标签右控件或上标签下控件）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表单类界面，需要标签与输入控件对应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65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Horizontal Spacer</a:t>
                      </a:r>
                      <a:r>
                        <a:rPr lang="en-US" sz="1200" b="0">
                          <a:effectLst/>
                        </a:rPr>
                        <a:t>（</a:t>
                      </a:r>
                      <a:r>
                        <a:rPr lang="zh-CN" altLang="en-US" sz="1200" b="0">
                          <a:effectLst/>
                        </a:rPr>
                        <a:t>水平间隔器）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在水平方向创建空白区域，推动周围控件在水平方向分离或填充空白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调整水平方向的空白间距或位置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Vertical Spacer</a:t>
                      </a:r>
                      <a:r>
                        <a:rPr lang="en-US" sz="1200" b="0">
                          <a:effectLst/>
                        </a:rPr>
                        <a:t>（</a:t>
                      </a:r>
                      <a:r>
                        <a:rPr lang="zh-CN" altLang="en-US" sz="1200" b="0">
                          <a:effectLst/>
                        </a:rPr>
                        <a:t>垂直间隔器）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在垂直方向创建空白区域，推动周围控件在垂直方向分离或填充空白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调整垂直方向的空白间距或位置</a:t>
                      </a:r>
                    </a:p>
                  </a:txBody>
                  <a:tcPr marL="56511" marR="56511" marT="37674" marB="376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09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70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B34F5C-EF87-0C4A-48AE-69FA25E12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7" y="51924"/>
            <a:ext cx="6340278" cy="318631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A466834-C9B1-DF29-286D-622CB6A2F9DB}"/>
              </a:ext>
            </a:extLst>
          </p:cNvPr>
          <p:cNvSpPr txBox="1"/>
          <p:nvPr/>
        </p:nvSpPr>
        <p:spPr>
          <a:xfrm>
            <a:off x="6512025" y="718372"/>
            <a:ext cx="5002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b="1">
                <a:latin typeface="Arial" panose="020B0604020202020204" pitchFamily="34" charset="0"/>
              </a:rPr>
              <a:t>按钮控件（</a:t>
            </a:r>
            <a:r>
              <a:rPr lang="en-US" altLang="zh-CN" b="1">
                <a:latin typeface="Arial" panose="020B0604020202020204" pitchFamily="34" charset="0"/>
              </a:rPr>
              <a:t>Buttons</a:t>
            </a:r>
            <a:r>
              <a:rPr lang="zh-CN" altLang="en-US" b="1">
                <a:latin typeface="Arial" panose="020B0604020202020204" pitchFamily="34" charset="0"/>
              </a:rPr>
              <a:t>）</a:t>
            </a:r>
            <a:r>
              <a:rPr lang="zh-CN" altLang="en-US">
                <a:latin typeface="Arial" panose="020B0604020202020204" pitchFamily="34" charset="0"/>
              </a:rPr>
              <a:t>是图形界面中用于触发操作的交互式控件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291E695-CC6D-6B2C-97E3-7EDF01AC7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058962"/>
              </p:ext>
            </p:extLst>
          </p:nvPr>
        </p:nvGraphicFramePr>
        <p:xfrm>
          <a:off x="70146" y="3238237"/>
          <a:ext cx="12121852" cy="366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463">
                  <a:extLst>
                    <a:ext uri="{9D8B030D-6E8A-4147-A177-3AD203B41FA5}">
                      <a16:colId xmlns:a16="http://schemas.microsoft.com/office/drawing/2014/main" val="4277970658"/>
                    </a:ext>
                  </a:extLst>
                </a:gridCol>
                <a:gridCol w="3030463">
                  <a:extLst>
                    <a:ext uri="{9D8B030D-6E8A-4147-A177-3AD203B41FA5}">
                      <a16:colId xmlns:a16="http://schemas.microsoft.com/office/drawing/2014/main" val="101773774"/>
                    </a:ext>
                  </a:extLst>
                </a:gridCol>
                <a:gridCol w="3030463">
                  <a:extLst>
                    <a:ext uri="{9D8B030D-6E8A-4147-A177-3AD203B41FA5}">
                      <a16:colId xmlns:a16="http://schemas.microsoft.com/office/drawing/2014/main" val="1199143363"/>
                    </a:ext>
                  </a:extLst>
                </a:gridCol>
                <a:gridCol w="3030463">
                  <a:extLst>
                    <a:ext uri="{9D8B030D-6E8A-4147-A177-3AD203B41FA5}">
                      <a16:colId xmlns:a16="http://schemas.microsoft.com/office/drawing/2014/main" val="3581592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按钮类型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核心功能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典型应用场景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外观特点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0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Push Button</a:t>
                      </a:r>
                      <a:endParaRPr lang="en-US" sz="1200" b="0">
                        <a:effectLst/>
                      </a:endParaRP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基础触发按钮，执行单一命令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对话框中的 “确定”“取消”、表单提交、功能触发（如 “打开文件”“保存”）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矩形外观，可显示文本（默认）、图标（需手动设置），样式简洁通用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8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Tool Button</a:t>
                      </a:r>
                      <a:endParaRPr lang="en-US" sz="1200" b="0">
                        <a:effectLst/>
                      </a:endParaRP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工具栏专用按钮，以图标为主，节省空间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软件工具栏（如 </a:t>
                      </a:r>
                      <a:r>
                        <a:rPr lang="en-US" altLang="zh-CN" sz="1200" b="0">
                          <a:effectLst/>
                        </a:rPr>
                        <a:t>Word </a:t>
                      </a:r>
                      <a:r>
                        <a:rPr lang="zh-CN" altLang="en-US" sz="1200" b="0">
                          <a:effectLst/>
                        </a:rPr>
                        <a:t>中的 “加粗”“对齐” 按钮）、状态栏快捷操作、菜单内图标按钮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通常仅显示图标（可隐藏文本），默认无边框，鼠标悬浮时显示高亮效果；可设置成扁平样式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3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Radio Button</a:t>
                      </a:r>
                      <a:endParaRPr lang="en-US" sz="1200" b="0">
                        <a:effectLst/>
                      </a:endParaRP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单选按钮，多选项中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互斥选择</a:t>
                      </a:r>
                      <a:r>
                        <a:rPr lang="zh-CN" altLang="en-US" sz="1200" b="0">
                          <a:effectLst/>
                        </a:rPr>
                        <a:t>（仅选一个）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性别选择（男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女）、选项卡切换、设置项的互斥选项（如 “分辨率：</a:t>
                      </a:r>
                      <a:r>
                        <a:rPr lang="en-US" altLang="zh-CN" sz="1200" b="0">
                          <a:effectLst/>
                        </a:rPr>
                        <a:t>1080P/720P”</a:t>
                      </a:r>
                      <a:r>
                        <a:rPr lang="zh-CN" altLang="en-US" sz="1200" b="0">
                          <a:effectLst/>
                        </a:rPr>
                        <a:t>）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圆形单选框 </a:t>
                      </a:r>
                      <a:r>
                        <a:rPr lang="en-US" altLang="zh-CN" sz="1200" b="0">
                          <a:effectLst/>
                        </a:rPr>
                        <a:t>+ </a:t>
                      </a:r>
                      <a:r>
                        <a:rPr lang="zh-CN" altLang="en-US" sz="1200" b="0">
                          <a:effectLst/>
                        </a:rPr>
                        <a:t>文本，选中时内部显示圆点；需放入 </a:t>
                      </a:r>
                      <a:r>
                        <a:rPr lang="en-US" altLang="zh-CN" sz="1200" b="0">
                          <a:effectLst/>
                        </a:rPr>
                        <a:t>QButtonGroup </a:t>
                      </a:r>
                      <a:r>
                        <a:rPr lang="zh-CN" altLang="en-US" sz="1200" b="0">
                          <a:effectLst/>
                        </a:rPr>
                        <a:t>实现互斥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72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Check Box</a:t>
                      </a:r>
                      <a:endParaRPr lang="en-US" sz="1200" b="0">
                        <a:effectLst/>
                      </a:endParaRP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复选按钮，多选项中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独立选择</a:t>
                      </a:r>
                      <a:r>
                        <a:rPr lang="zh-CN" altLang="en-US" sz="1200" b="0">
                          <a:effectLst/>
                        </a:rPr>
                        <a:t>（可选多个）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列表多选（如 “兴趣爱好：读书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运动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音乐”）、设置项开关（如 “自动保存”“显示通知”）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方形复选框 </a:t>
                      </a:r>
                      <a:r>
                        <a:rPr lang="en-US" altLang="zh-CN" sz="1200" b="0">
                          <a:effectLst/>
                        </a:rPr>
                        <a:t>+ </a:t>
                      </a:r>
                      <a:r>
                        <a:rPr lang="zh-CN" altLang="en-US" sz="1200" b="0">
                          <a:effectLst/>
                        </a:rPr>
                        <a:t>文本，选中时内部显示对勾；可单独使用，无需分组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65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Command Link Button</a:t>
                      </a:r>
                      <a:endParaRPr lang="en-US" sz="1200" b="0">
                        <a:effectLst/>
                      </a:endParaRP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带提示的 “命令链接” 按钮，强调操作关联性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向导对话框（如 “下一步” 并提示 “将进入安装配置”）、系统级操作引导（如 “修复此设备”）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类似 </a:t>
                      </a:r>
                      <a:r>
                        <a:rPr lang="en-US" altLang="zh-CN" sz="1200" b="0">
                          <a:effectLst/>
                        </a:rPr>
                        <a:t>Push Button</a:t>
                      </a:r>
                      <a:r>
                        <a:rPr lang="zh-CN" altLang="en-US" sz="1200" b="0">
                          <a:effectLst/>
                        </a:rPr>
                        <a:t>，但默认带右向箭头图标，可显示 “主文本” 和 “描述文本”（副标题）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Dialog Button Box</a:t>
                      </a:r>
                      <a:endParaRPr lang="en-US" sz="1200" b="0">
                        <a:effectLst/>
                      </a:endParaRP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按钮容器，统一管理对话框中的标准按钮组合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标准对话框（如消息框、文件对话框）中的 “确定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取消”“是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否”“应用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重置” 组合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本身是容器，内部按钮样式由系统主题或 </a:t>
                      </a:r>
                      <a:r>
                        <a:rPr lang="en-US" sz="1200" b="0">
                          <a:effectLst/>
                        </a:rPr>
                        <a:t>setStandardButtons() </a:t>
                      </a:r>
                      <a:r>
                        <a:rPr lang="zh-CN" altLang="en-US" sz="1200" b="0">
                          <a:effectLst/>
                        </a:rPr>
                        <a:t>自动统一</a:t>
                      </a:r>
                    </a:p>
                  </a:txBody>
                  <a:tcPr marL="46621" marR="46621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096638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B230FA8-53D2-DB96-67BE-D5C9A0D57E1B}"/>
              </a:ext>
            </a:extLst>
          </p:cNvPr>
          <p:cNvSpPr/>
          <p:nvPr/>
        </p:nvSpPr>
        <p:spPr>
          <a:xfrm>
            <a:off x="70146" y="299719"/>
            <a:ext cx="2531804" cy="17518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73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7DF78F9D-E51D-6BAF-44F6-8F96A10E4384}"/>
              </a:ext>
            </a:extLst>
          </p:cNvPr>
          <p:cNvGrpSpPr/>
          <p:nvPr/>
        </p:nvGrpSpPr>
        <p:grpSpPr>
          <a:xfrm>
            <a:off x="0" y="1"/>
            <a:ext cx="11319933" cy="5301130"/>
            <a:chOff x="0" y="0"/>
            <a:chExt cx="11919563" cy="5581937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9ED785B7-1DE4-8448-F087-FF7792AC1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1919563" cy="5581937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A7916A7-2DAE-F93A-8A6B-B68DAE66796A}"/>
                </a:ext>
              </a:extLst>
            </p:cNvPr>
            <p:cNvSpPr/>
            <p:nvPr/>
          </p:nvSpPr>
          <p:spPr>
            <a:xfrm>
              <a:off x="0" y="274319"/>
              <a:ext cx="2777067" cy="175181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DC6FF87-0E9F-4BC0-C018-D301EF2A24A2}"/>
                </a:ext>
              </a:extLst>
            </p:cNvPr>
            <p:cNvSpPr/>
            <p:nvPr/>
          </p:nvSpPr>
          <p:spPr>
            <a:xfrm>
              <a:off x="0" y="2052218"/>
              <a:ext cx="2842388" cy="116511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EDE2BFE7-302F-F1CB-035C-0BFC2CA454FC}"/>
              </a:ext>
            </a:extLst>
          </p:cNvPr>
          <p:cNvSpPr txBox="1"/>
          <p:nvPr/>
        </p:nvSpPr>
        <p:spPr>
          <a:xfrm>
            <a:off x="0" y="5438684"/>
            <a:ext cx="11912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>
                <a:solidFill>
                  <a:srgbClr val="000000"/>
                </a:solidFill>
                <a:effectLst/>
                <a:latin typeface="Inter"/>
              </a:rPr>
              <a:t>Item Views (Model-Based)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: 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基于模型 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- 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视图（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Model-View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）架构，数据与界面分离，通过模型（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Model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）管理数据，视图（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View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）仅负责展示，适合处理大量或动态数据。</a:t>
            </a:r>
          </a:p>
          <a:p>
            <a:pPr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i="0">
                <a:solidFill>
                  <a:srgbClr val="000000"/>
                </a:solidFill>
                <a:effectLst/>
                <a:latin typeface="Inter"/>
              </a:rPr>
              <a:t>Item Widgets (Item-Based)</a:t>
            </a:r>
            <a:r>
              <a:rPr lang="en-US" altLang="zh-CN" b="0" i="0">
                <a:solidFill>
                  <a:srgbClr val="000000"/>
                </a:solidFill>
                <a:effectLst/>
                <a:latin typeface="Inter"/>
              </a:rPr>
              <a:t>: </a:t>
            </a:r>
            <a:r>
              <a:rPr lang="zh-CN" altLang="en-US" b="0" i="0">
                <a:solidFill>
                  <a:srgbClr val="000000"/>
                </a:solidFill>
                <a:effectLst/>
                <a:latin typeface="Inter"/>
              </a:rPr>
              <a:t>数据与控件紧密绑定，数据存储在控件内部，使用简单但灵活性较低，适合处理少量静态数据。</a:t>
            </a:r>
          </a:p>
        </p:txBody>
      </p:sp>
    </p:spTree>
    <p:extLst>
      <p:ext uri="{BB962C8B-B14F-4D97-AF65-F5344CB8AC3E}">
        <p14:creationId xmlns:p14="http://schemas.microsoft.com/office/powerpoint/2010/main" val="2418413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D70F5BE-BB1F-2310-F1D2-AAA61953A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618907"/>
              </p:ext>
            </p:extLst>
          </p:nvPr>
        </p:nvGraphicFramePr>
        <p:xfrm>
          <a:off x="0" y="209550"/>
          <a:ext cx="12026898" cy="372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850">
                  <a:extLst>
                    <a:ext uri="{9D8B030D-6E8A-4147-A177-3AD203B41FA5}">
                      <a16:colId xmlns:a16="http://schemas.microsoft.com/office/drawing/2014/main" val="272155833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09687055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323252289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3862374876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862518440"/>
                    </a:ext>
                  </a:extLst>
                </a:gridCol>
                <a:gridCol w="2584448">
                  <a:extLst>
                    <a:ext uri="{9D8B030D-6E8A-4147-A177-3AD203B41FA5}">
                      <a16:colId xmlns:a16="http://schemas.microsoft.com/office/drawing/2014/main" val="1896083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控件类型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所属类别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核心功能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数据管理方式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典型应用场景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优缺点对比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629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List View</a:t>
                      </a:r>
                      <a:endParaRPr lang="en-US" sz="1200" b="0">
                        <a:effectLst/>
                      </a:endParaRP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Item Views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以列表形式展示单列数据，支持自定义视图样式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依赖外部模型（如 </a:t>
                      </a:r>
                      <a:r>
                        <a:rPr lang="en-US" sz="1200" b="0">
                          <a:effectLst/>
                        </a:rPr>
                        <a:t>QStandardItemModel）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文件列表、选项列表、简单数据展示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灵活度高，适合大数据量；需手动关联模型，使用稍复杂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411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Tree View</a:t>
                      </a:r>
                      <a:endParaRPr lang="en-US" sz="1200" b="0">
                        <a:effectLst/>
                      </a:endParaRP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Item Views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以树形结构展示层级数据，支持展开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折叠节点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依赖外部模型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文件系统目录、组织结构图、多级分类数据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支持复杂层级关系，可自定义节点样式；学习成本较高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35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Table View</a:t>
                      </a:r>
                      <a:endParaRPr lang="en-US" sz="1200" b="0">
                        <a:effectLst/>
                      </a:endParaRP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Item Views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以表格（行列）形式展示多列数据，支持单元格编辑、排序、筛选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依赖外部模型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数据库表展示、统计数据表格、可编辑的数据表单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适合大量结构化数据，支持复杂交互；需手动配置模型和代理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649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Column View</a:t>
                      </a:r>
                      <a:endParaRPr lang="en-US" sz="1200" b="0">
                        <a:effectLst/>
                      </a:endParaRP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Item Views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以多列层级形式展示数据，每列对应上一列选中项的子项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依赖外部模型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文件路径导航、多级分类浏览（如电子书章节→小节）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直观展示层级关系，适合深度导航；应用场景较特定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Undo View</a:t>
                      </a:r>
                      <a:endParaRPr lang="en-US" sz="1200" b="0">
                        <a:effectLst/>
                      </a:endParaRP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Item Views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专门用于展示撤销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重做历史记录，与 </a:t>
                      </a:r>
                      <a:r>
                        <a:rPr lang="en-US" altLang="zh-CN" sz="1200" b="0">
                          <a:effectLst/>
                        </a:rPr>
                        <a:t>QUndoStack </a:t>
                      </a:r>
                      <a:r>
                        <a:rPr lang="zh-CN" altLang="en-US" sz="1200" b="0">
                          <a:effectLst/>
                        </a:rPr>
                        <a:t>配合使用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关联 </a:t>
                      </a:r>
                      <a:r>
                        <a:rPr lang="en-US" sz="1200" b="0">
                          <a:effectLst/>
                        </a:rPr>
                        <a:t>QUndoStack </a:t>
                      </a:r>
                      <a:r>
                        <a:rPr lang="zh-CN" altLang="en-US" sz="1200" b="0">
                          <a:effectLst/>
                        </a:rPr>
                        <a:t>模型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文本编辑器的撤销历史、图像编辑软件的操作记录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专注于撤销功能可视化；功能单一，仅用于特定场景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026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List Widget</a:t>
                      </a:r>
                      <a:endParaRPr lang="en-US" sz="1200" b="0">
                        <a:effectLst/>
                      </a:endParaRP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Item Widgets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以列表形式展示单列数据，数据存储在控件内部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内部维护数据（</a:t>
                      </a:r>
                      <a:r>
                        <a:rPr lang="en-US" altLang="zh-CN" sz="1200" b="0">
                          <a:effectLst/>
                        </a:rPr>
                        <a:t>QListWidgetItem</a:t>
                      </a:r>
                      <a:r>
                        <a:rPr lang="zh-CN" altLang="en-US" sz="1200" b="0">
                          <a:effectLst/>
                        </a:rPr>
                        <a:t>）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简单的选项列表（如 “已安装插件” 列表）、少量静态条目展示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使用简单，无需配置模型；数据与控件耦合，不适合大量动态数据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72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Tree Widget</a:t>
                      </a:r>
                      <a:endParaRPr lang="en-US" sz="1200" b="0">
                        <a:effectLst/>
                      </a:endParaRP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Item Widgets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以树形结构展示层级数据，数据存储在控件内部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内部维护数据（</a:t>
                      </a:r>
                      <a:r>
                        <a:rPr lang="en-US" altLang="zh-CN" sz="1200" b="0">
                          <a:effectLst/>
                        </a:rPr>
                        <a:t>QTreeWidgetItem</a:t>
                      </a:r>
                      <a:r>
                        <a:rPr lang="zh-CN" altLang="en-US" sz="1200" b="0">
                          <a:effectLst/>
                        </a:rPr>
                        <a:t>）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简单的层级列表（如 “项目文件结构”）、少量静态分类数据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无需处理模型，快速实现树形展示；不适合大数据量或频繁更新的数据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07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Table Widget</a:t>
                      </a:r>
                      <a:endParaRPr lang="en-US" sz="1200" b="0">
                        <a:effectLst/>
                      </a:endParaRP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Item Widgets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以表格形式展示多列数据，数据存储在控件内部，支持单元格直接操作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内部维护数据（</a:t>
                      </a:r>
                      <a:r>
                        <a:rPr lang="en-US" sz="1200" b="0">
                          <a:effectLst/>
                        </a:rPr>
                        <a:t>QTableWidgetItem）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简单的数据表格（如 “用户信息表”）、小型数据编辑表单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开箱即用，无需模型配置；数据量大时性能下降，灵活性有限</a:t>
                      </a:r>
                    </a:p>
                  </a:txBody>
                  <a:tcPr marL="40415" marR="40415" marT="26943" marB="269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743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45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67739-063C-B000-F445-4DF05A94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8499339-1682-E23B-E237-9FF95C898E5D}"/>
              </a:ext>
            </a:extLst>
          </p:cNvPr>
          <p:cNvGrpSpPr/>
          <p:nvPr/>
        </p:nvGrpSpPr>
        <p:grpSpPr>
          <a:xfrm>
            <a:off x="108247" y="63500"/>
            <a:ext cx="7232354" cy="4654384"/>
            <a:chOff x="-44154" y="0"/>
            <a:chExt cx="8782203" cy="565179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EEEFDBE0-B81E-60F3-B772-F67E9C3DE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8738049" cy="5651790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C8CBDD9-9EE0-650D-97DA-7B38101AB966}"/>
                </a:ext>
              </a:extLst>
            </p:cNvPr>
            <p:cNvSpPr/>
            <p:nvPr/>
          </p:nvSpPr>
          <p:spPr>
            <a:xfrm>
              <a:off x="-44154" y="203201"/>
              <a:ext cx="2984204" cy="34417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E7EA234-1FD8-83F5-1ED2-A76B74CA56A2}"/>
              </a:ext>
            </a:extLst>
          </p:cNvPr>
          <p:cNvSpPr txBox="1"/>
          <p:nvPr/>
        </p:nvSpPr>
        <p:spPr>
          <a:xfrm>
            <a:off x="108247" y="4805817"/>
            <a:ext cx="8978604" cy="100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600" b="1" i="0">
                <a:solidFill>
                  <a:srgbClr val="000000"/>
                </a:solidFill>
                <a:effectLst/>
                <a:latin typeface="Inter"/>
              </a:rPr>
              <a:t>容器控件概述</a:t>
            </a:r>
          </a:p>
          <a:p>
            <a:pPr algn="l">
              <a:lnSpc>
                <a:spcPts val="2100"/>
              </a:lnSpc>
              <a:buNone/>
            </a:pPr>
            <a:r>
              <a:rPr lang="zh-CN" altLang="en-US" sz="1600" b="0" i="0">
                <a:effectLst/>
                <a:latin typeface="Inter"/>
              </a:rPr>
              <a:t>容器控件</a:t>
            </a:r>
            <a:r>
              <a:rPr lang="zh-CN" altLang="en-US" sz="1600">
                <a:latin typeface="Inter"/>
              </a:rPr>
              <a:t>（</a:t>
            </a:r>
            <a:r>
              <a:rPr lang="en-US" altLang="zh-CN" sz="1600">
                <a:latin typeface="Inter"/>
              </a:rPr>
              <a:t>Containers</a:t>
            </a:r>
            <a:r>
              <a:rPr lang="zh-CN" altLang="en-US" sz="1600">
                <a:latin typeface="Inter"/>
              </a:rPr>
              <a:t>）</a:t>
            </a:r>
            <a:r>
              <a:rPr lang="zh-CN" altLang="en-US" sz="1600" b="0" i="0">
                <a:effectLst/>
                <a:latin typeface="Inter"/>
              </a:rPr>
              <a:t>主要用于组织和管理其他界面元素，提供分组、布局管理或特殊交互方式，帮助构建结构化、层次清晰的用户界面。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CCFCA5-239A-6DED-A001-6276AE6997EB}"/>
              </a:ext>
            </a:extLst>
          </p:cNvPr>
          <p:cNvSpPr txBox="1"/>
          <p:nvPr/>
        </p:nvSpPr>
        <p:spPr>
          <a:xfrm>
            <a:off x="108247" y="5869650"/>
            <a:ext cx="9931103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600"/>
              </a:spcBef>
            </a:pPr>
            <a:r>
              <a:rPr lang="zh-CN" altLang="en-US" sz="1600" b="0" i="0">
                <a:solidFill>
                  <a:srgbClr val="000000"/>
                </a:solidFill>
                <a:effectLst/>
                <a:latin typeface="Inter"/>
              </a:rPr>
              <a:t>容器控件可嵌套使用（如在 </a:t>
            </a:r>
            <a:r>
              <a:rPr lang="en-US" altLang="zh-CN" sz="1600" b="0" i="0">
                <a:solidFill>
                  <a:srgbClr val="000000"/>
                </a:solidFill>
                <a:effectLst/>
                <a:latin typeface="Inter"/>
              </a:rPr>
              <a:t>Tab Widget </a:t>
            </a:r>
            <a:r>
              <a:rPr lang="zh-CN" altLang="en-US" sz="1600" b="0" i="0">
                <a:solidFill>
                  <a:srgbClr val="000000"/>
                </a:solidFill>
                <a:effectLst/>
                <a:latin typeface="Inter"/>
              </a:rPr>
              <a:t>的页面中放入 </a:t>
            </a:r>
            <a:r>
              <a:rPr lang="en-US" altLang="zh-CN" sz="1600" b="0" i="0">
                <a:solidFill>
                  <a:srgbClr val="000000"/>
                </a:solidFill>
                <a:effectLst/>
                <a:latin typeface="Inter"/>
              </a:rPr>
              <a:t>Group Box</a:t>
            </a:r>
            <a:r>
              <a:rPr lang="zh-CN" altLang="en-US" sz="1600" b="0" i="0">
                <a:solidFill>
                  <a:srgbClr val="000000"/>
                </a:solidFill>
                <a:effectLst/>
                <a:latin typeface="Inter"/>
              </a:rPr>
              <a:t>），构建复杂界面层次。</a:t>
            </a:r>
          </a:p>
        </p:txBody>
      </p:sp>
    </p:spTree>
    <p:extLst>
      <p:ext uri="{BB962C8B-B14F-4D97-AF65-F5344CB8AC3E}">
        <p14:creationId xmlns:p14="http://schemas.microsoft.com/office/powerpoint/2010/main" val="2686577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484A-3CDE-229E-97FB-8FC108B6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7F244AD-8D52-CA8E-33AA-A35CFAF2E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945010"/>
              </p:ext>
            </p:extLst>
          </p:nvPr>
        </p:nvGraphicFramePr>
        <p:xfrm>
          <a:off x="118398" y="128124"/>
          <a:ext cx="11955204" cy="411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202">
                  <a:extLst>
                    <a:ext uri="{9D8B030D-6E8A-4147-A177-3AD203B41FA5}">
                      <a16:colId xmlns:a16="http://schemas.microsoft.com/office/drawing/2014/main" val="4277970658"/>
                    </a:ext>
                  </a:extLst>
                </a:gridCol>
                <a:gridCol w="4936067">
                  <a:extLst>
                    <a:ext uri="{9D8B030D-6E8A-4147-A177-3AD203B41FA5}">
                      <a16:colId xmlns:a16="http://schemas.microsoft.com/office/drawing/2014/main" val="101773774"/>
                    </a:ext>
                  </a:extLst>
                </a:gridCol>
                <a:gridCol w="5257935">
                  <a:extLst>
                    <a:ext uri="{9D8B030D-6E8A-4147-A177-3AD203B41FA5}">
                      <a16:colId xmlns:a16="http://schemas.microsoft.com/office/drawing/2014/main" val="1199143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控件类型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核心功能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典型应用场景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0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Group Box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用于将相关控件分组，通常带标题和边框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表单中的选项分组（如 “个人信息”“权限设置”）、单选按钮组容器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8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Scroll Area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提供滚动视图，当内容超出显示区域时可通过滚动条查看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包含大量内容的面板（如长文本、大图片、多控件列表）、可扩展的配置界面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3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Tool Box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以标签页切换方式管理多个页面，类似抽屉式界面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工具属性面板（如绘图软件的 “颜色”“样式” 工具页）、分类设置面板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72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Tab Widget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通过标签页组织多个页面，点击标签切换内容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多文档编辑器、属性设置对话框（如 “基本信息”“高级设置” 标签页）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65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Stacked Widget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管理多个页面但仅显示一个，需通过外部控件（如按钮）切换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向导对话框（如安装步骤）、分步操作界面、需严格控制切换逻辑的场景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Frame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基础容器，提供边框和背景，用于视觉分隔或作为子布局容器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界面区域分隔（如工具栏与主内容区）、自定义控件容器、需要特殊边框样式的区域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096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Widget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所有界面控件的基类，可作为通用容器使用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自定义复合控件的基类、复杂界面的子面板容器、空白区域填充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861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MDI Area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多文档界面容器，用于同时显示多个文档窗口，支持层叠、平铺排列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多文档编辑器（如文本编辑器、图像编辑器）、需要同时操作多个文件的应用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292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Dock Widget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可停靠的浮动面板，可附着在主窗口边缘或独立浮动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工具面板（如 </a:t>
                      </a:r>
                      <a:r>
                        <a:rPr lang="en-US" altLang="zh-CN" sz="1200" b="0">
                          <a:effectLst/>
                        </a:rPr>
                        <a:t>IDE </a:t>
                      </a:r>
                      <a:r>
                        <a:rPr lang="zh-CN" altLang="en-US" sz="1200" b="0">
                          <a:effectLst/>
                        </a:rPr>
                        <a:t>的 “项目浏览器”“属性面板”）、辅助功能窗口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226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QAxWidget</a:t>
                      </a:r>
                      <a:endParaRPr lang="en-US" sz="1200" b="0">
                        <a:effectLst/>
                      </a:endParaRP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用于嵌入 </a:t>
                      </a:r>
                      <a:r>
                        <a:rPr lang="en-US" sz="1200" b="0">
                          <a:effectLst/>
                        </a:rPr>
                        <a:t>ActiveX </a:t>
                      </a:r>
                      <a:r>
                        <a:rPr lang="zh-CN" altLang="en-US" sz="1200" b="0">
                          <a:effectLst/>
                        </a:rPr>
                        <a:t>控件（</a:t>
                      </a:r>
                      <a:r>
                        <a:rPr lang="en-US" sz="1200" b="0">
                          <a:effectLst/>
                        </a:rPr>
                        <a:t>Windows </a:t>
                      </a:r>
                      <a:r>
                        <a:rPr lang="zh-CN" altLang="en-US" sz="1200" b="0">
                          <a:effectLst/>
                        </a:rPr>
                        <a:t>平台），实现与 </a:t>
                      </a:r>
                      <a:r>
                        <a:rPr lang="en-US" sz="1200" b="0">
                          <a:effectLst/>
                        </a:rPr>
                        <a:t>COM </a:t>
                      </a:r>
                      <a:r>
                        <a:rPr lang="zh-CN" altLang="en-US" sz="1200" b="0">
                          <a:effectLst/>
                        </a:rPr>
                        <a:t>组件的交互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嵌入 </a:t>
                      </a:r>
                      <a:r>
                        <a:rPr lang="en-US" sz="1200" b="0">
                          <a:effectLst/>
                        </a:rPr>
                        <a:t>IE </a:t>
                      </a:r>
                      <a:r>
                        <a:rPr lang="zh-CN" altLang="en-US" sz="1200" b="0">
                          <a:effectLst/>
                        </a:rPr>
                        <a:t>浏览器、</a:t>
                      </a:r>
                      <a:r>
                        <a:rPr lang="en-US" sz="1200" b="0">
                          <a:effectLst/>
                        </a:rPr>
                        <a:t>Office </a:t>
                      </a:r>
                      <a:r>
                        <a:rPr lang="zh-CN" altLang="en-US" sz="1200" b="0">
                          <a:effectLst/>
                        </a:rPr>
                        <a:t>组件、第三方 </a:t>
                      </a:r>
                      <a:r>
                        <a:rPr lang="en-US" sz="1200" b="0">
                          <a:effectLst/>
                        </a:rPr>
                        <a:t>ActiveX </a:t>
                      </a:r>
                      <a:r>
                        <a:rPr lang="zh-CN" altLang="en-US" sz="1200" b="0">
                          <a:effectLst/>
                        </a:rPr>
                        <a:t>控件（如视频播放器、报表控件）</a:t>
                      </a:r>
                    </a:p>
                  </a:txBody>
                  <a:tcPr marL="33132" marR="33132" marT="22088" marB="220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070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7680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3DF6-422F-B4D2-7E4B-03AE7D6C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FA561E7-0BD2-42B3-2528-AB47A74AD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4" y="76200"/>
            <a:ext cx="9139394" cy="4495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3F80A4A-0603-03EA-DBFA-64A6E4563B9E}"/>
              </a:ext>
            </a:extLst>
          </p:cNvPr>
          <p:cNvSpPr/>
          <p:nvPr/>
        </p:nvSpPr>
        <p:spPr>
          <a:xfrm>
            <a:off x="62874" y="293367"/>
            <a:ext cx="2531804" cy="3859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325CE1-2987-8769-02D2-D8CF38DBDFA3}"/>
              </a:ext>
            </a:extLst>
          </p:cNvPr>
          <p:cNvSpPr txBox="1"/>
          <p:nvPr/>
        </p:nvSpPr>
        <p:spPr>
          <a:xfrm>
            <a:off x="62874" y="478916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/>
              <a:t>Input Widgets（输入控件）</a:t>
            </a:r>
          </a:p>
        </p:txBody>
      </p:sp>
    </p:spTree>
    <p:extLst>
      <p:ext uri="{BB962C8B-B14F-4D97-AF65-F5344CB8AC3E}">
        <p14:creationId xmlns:p14="http://schemas.microsoft.com/office/powerpoint/2010/main" val="24967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5D13-B655-759D-0954-5550DBEA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821A412-3ED6-7EDD-087C-F8655184C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32458"/>
              </p:ext>
            </p:extLst>
          </p:nvPr>
        </p:nvGraphicFramePr>
        <p:xfrm>
          <a:off x="118398" y="102724"/>
          <a:ext cx="11997402" cy="6367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542">
                  <a:extLst>
                    <a:ext uri="{9D8B030D-6E8A-4147-A177-3AD203B41FA5}">
                      <a16:colId xmlns:a16="http://schemas.microsoft.com/office/drawing/2014/main" val="4277970658"/>
                    </a:ext>
                  </a:extLst>
                </a:gridCol>
                <a:gridCol w="3440394">
                  <a:extLst>
                    <a:ext uri="{9D8B030D-6E8A-4147-A177-3AD203B41FA5}">
                      <a16:colId xmlns:a16="http://schemas.microsoft.com/office/drawing/2014/main" val="101773774"/>
                    </a:ext>
                  </a:extLst>
                </a:gridCol>
                <a:gridCol w="3664733">
                  <a:extLst>
                    <a:ext uri="{9D8B030D-6E8A-4147-A177-3AD203B41FA5}">
                      <a16:colId xmlns:a16="http://schemas.microsoft.com/office/drawing/2014/main" val="1199143363"/>
                    </a:ext>
                  </a:extLst>
                </a:gridCol>
                <a:gridCol w="3664733">
                  <a:extLst>
                    <a:ext uri="{9D8B030D-6E8A-4147-A177-3AD203B41FA5}">
                      <a16:colId xmlns:a16="http://schemas.microsoft.com/office/drawing/2014/main" val="2456259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effectLst/>
                        </a:rPr>
                        <a:t>控件类型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effectLst/>
                        </a:rPr>
                        <a:t>核心功能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effectLst/>
                        </a:rPr>
                        <a:t>典型应用场景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chemeClr val="tx1"/>
                          </a:solidFill>
                          <a:effectLst/>
                        </a:rPr>
                        <a:t>输入形式与特点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0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Combo Box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下拉列表与输入框结合，可选择预设选项或手动输入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选项较少的下拉选择（如 “国家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/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地区” 选择、状态切换）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默认显示当前选项，点击展开下拉列表；支持可编辑模式（允许手动输入）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8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Font Combo Box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专门用于选择字体的下拉控件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文本编辑器的字体选择、格式设置面板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下拉列表显示系统可用字体名称，选中时实时预览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31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Line Edit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单行文本输入框，用于简短文本输入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用户名、密码、搜索框、单行参数输入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仅支持单行输入；可设置输入掩码（如电话号码格式）、密码模式（显示圆点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/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星号）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72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Text Edit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多行富文本编辑框，支持格式化文本（字体、颜色、对齐等）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文档编辑器、富文本邮件撰写、带格式的备注输入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支持多行输入、换行、富文本编辑；可插入图片、表格等元素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265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Plain Text Edit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多行纯文本编辑框，仅支持无格式文本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代码编辑器、日志查看器、纯文本笔记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轻量级多行输入，不支持富文本；适合处理大量文本（性能优于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Text Edit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1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Spin Box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整数数值输入控件，支持上下按钮调整或直接输入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数量选择（如 “购买数量：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1-10”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）、年龄输入、整数参数设置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显示当前数值，点击上下按钮增减；可设置范围（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min/max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）和步长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096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Double Spin Box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浮点数数值输入控件，功能类似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Spin Box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但支持小数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精度参数设置（如 “透明度：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0.0-1.0”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）、价格输入、浮点型数据调整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支持小数位数设置（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decimals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）；范围和步长可自定义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861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Time Edit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时间输入控件，用于选择或编辑时间（时：分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: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秒）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闹钟时间设置、日程安排的时间选择、倒计时器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显示时间格式（如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HH:MM:SS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）；支持上下按钮调整或直接输入；可关联系统时间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292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Date Edit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日期输入控件，用于选择或编辑日期（年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月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-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日）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生日选择、预约日期设置、日历事件安排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显示日期格式（如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YYYY-MM-DD）；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支持下拉日历选择（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QCalendarWidget）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226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Date/Time Edit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日期和时间组合输入控件，同时处理日期和时间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事件的具体时间点设置（如 “会议时间：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2023-10-01 09:30”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整合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Date Edit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和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Time Edit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功能；支持日期时间联动调整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07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Dial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圆形旋钮控件，通过旋转调整数值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音量调节、亮度控制、角度设置（如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0-360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度）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圆形外观，可旋转指针选择数值；支持范围和步长设置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691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Horizontal Scroll Bar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水平滚动条，用于控制水平方向内容的可见范围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长文本水平滚动、表格横向滚动、图像左右浏览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水平方向滑块，可拖动或点击两端箭头；支持页面跳转（点击滑块两侧区域）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047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Vertical Scroll Bar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垂直滚动条，用于控制垂直方向内容的可见范围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长列表垂直滚动、文本编辑器换行滚动、图像上下浏览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垂直方向滑块，操作逻辑同水平滚动条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0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Horizontal Slider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水平滑动条，通过拖动滑块选择数值或设置参数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进度条控制、音量调节、亮度设置、范围选择（如 “透明度 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effectLst/>
                        </a:rPr>
                        <a:t>50%”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水平长条滑块，视觉上比滚动条更简洁；专注于数值调节而非内容滚动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614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Vertical Slider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垂直滑动条，功能同 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Horizontal Slider 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但方向垂直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垂直方向的参数调节（如柱状图高度调整、垂直进度显示）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垂直长条滑块，操作逻辑同水平滑块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35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</a:rPr>
                        <a:t>Key Sequence Edit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快捷键输入控件，用于捕获用户设置的快捷键组合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应用程序快捷键配置（如 “复制：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Ctrl+C”“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保存：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Ctrl+S”）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effectLst/>
                        </a:rPr>
                        <a:t>显示当前快捷键组合，用户按下新组合时自动更新</a:t>
                      </a:r>
                    </a:p>
                  </a:txBody>
                  <a:tcPr marL="10094" marR="10094" marT="4659" marB="46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983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634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9D46-0260-74BC-1219-3BF825E48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101A7D3-649D-F7A8-4EC6-9182B0E4F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517" y="0"/>
            <a:ext cx="9894965" cy="685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BDFE71C-B4A6-DC1A-3970-E41E5068350E}"/>
              </a:ext>
            </a:extLst>
          </p:cNvPr>
          <p:cNvSpPr txBox="1"/>
          <p:nvPr/>
        </p:nvSpPr>
        <p:spPr>
          <a:xfrm>
            <a:off x="3898274" y="540723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rgbClr val="FF0000"/>
                </a:solidFill>
                <a:highlight>
                  <a:srgbClr val="FFFF00"/>
                </a:highlight>
              </a:rPr>
              <a:t>Display Widgets</a:t>
            </a:r>
            <a:r>
              <a:rPr lang="zh-CN" altLang="en-US" sz="1600" b="1">
                <a:solidFill>
                  <a:srgbClr val="FF0000"/>
                </a:solidFill>
                <a:highlight>
                  <a:srgbClr val="FFFF00"/>
                </a:highlight>
              </a:rPr>
              <a:t>（显示类控件）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CA5F40-6E4D-035A-F39E-32F71E3CFFFB}"/>
              </a:ext>
            </a:extLst>
          </p:cNvPr>
          <p:cNvSpPr/>
          <p:nvPr/>
        </p:nvSpPr>
        <p:spPr>
          <a:xfrm>
            <a:off x="1085224" y="4083050"/>
            <a:ext cx="2210426" cy="2774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815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1040381-E7F7-DD4F-4FAF-8820E3EB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384896"/>
              </p:ext>
            </p:extLst>
          </p:nvPr>
        </p:nvGraphicFramePr>
        <p:xfrm>
          <a:off x="203200" y="198966"/>
          <a:ext cx="11817350" cy="5533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350">
                  <a:extLst>
                    <a:ext uri="{9D8B030D-6E8A-4147-A177-3AD203B41FA5}">
                      <a16:colId xmlns:a16="http://schemas.microsoft.com/office/drawing/2014/main" val="3266572521"/>
                    </a:ext>
                  </a:extLst>
                </a:gridCol>
                <a:gridCol w="3016250">
                  <a:extLst>
                    <a:ext uri="{9D8B030D-6E8A-4147-A177-3AD203B41FA5}">
                      <a16:colId xmlns:a16="http://schemas.microsoft.com/office/drawing/2014/main" val="173976741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85405778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656497591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1994708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控件名称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核心功能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交互能力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典型应用场景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关键特性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70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Label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显示文本、图片、动画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无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界面提示文字、图标展示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轻量、支持 </a:t>
                      </a:r>
                      <a:r>
                        <a:rPr lang="en-US" altLang="zh-CN" sz="1200" b="0">
                          <a:effectLst/>
                        </a:rPr>
                        <a:t>HTML </a:t>
                      </a:r>
                      <a:r>
                        <a:rPr lang="zh-CN" altLang="en-US" sz="1200" b="0">
                          <a:effectLst/>
                        </a:rPr>
                        <a:t>富文本、动画播放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338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Text Browser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显示富文本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纯文本，支持超链接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支持链接跳转、滚动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帮助文档、日志查看、带链接的说明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自带历史记录、不支持编辑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412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Graphics View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200" b="0">
                          <a:effectLst/>
                        </a:rPr>
                        <a:t>2D </a:t>
                      </a:r>
                      <a:r>
                        <a:rPr lang="zh-CN" altLang="en-US" sz="1200" b="0">
                          <a:effectLst/>
                        </a:rPr>
                        <a:t>图形渲染、交互与动画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支持缩放、平移、选择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绘图软件、地图、游戏 </a:t>
                      </a:r>
                      <a:r>
                        <a:rPr lang="en-US" altLang="zh-CN" sz="1200" b="0">
                          <a:effectLst/>
                        </a:rPr>
                        <a:t>2D </a:t>
                      </a:r>
                      <a:r>
                        <a:rPr lang="zh-CN" altLang="en-US" sz="1200" b="0">
                          <a:effectLst/>
                        </a:rPr>
                        <a:t>界面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基于 “场景 </a:t>
                      </a:r>
                      <a:r>
                        <a:rPr lang="en-US" altLang="zh-CN" sz="1200" b="0">
                          <a:effectLst/>
                        </a:rPr>
                        <a:t>- </a:t>
                      </a:r>
                      <a:r>
                        <a:rPr lang="zh-CN" altLang="en-US" sz="1200" b="0">
                          <a:effectLst/>
                        </a:rPr>
                        <a:t>视图” 架构、支持大量图形项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17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Calendar Widget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日历显示与日期选择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支持日期点击、导航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日期选择对话框、日程安排界面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月历视图、多日期选择、日期范围限制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3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LCD Number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模拟 </a:t>
                      </a:r>
                      <a:r>
                        <a:rPr lang="en-US" altLang="zh-CN" sz="1200" b="0">
                          <a:effectLst/>
                        </a:rPr>
                        <a:t>LCD </a:t>
                      </a:r>
                      <a:r>
                        <a:rPr lang="zh-CN" altLang="en-US" sz="1200" b="0">
                          <a:effectLst/>
                        </a:rPr>
                        <a:t>数码管显示数字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字符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无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计时器、计数器、仪器仪表模拟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数码管风格、多进制显示、自定义颜色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34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Progress Bar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展示任务进度，支持繁忙模式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无（仅展示）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文件下载、数据加载、任务进度提示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水平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垂直样式、进度比例可视化、繁忙动画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522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Horizontal Line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横向分隔界面元素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无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分割标题与内容、分隔不同功能块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纯装饰、可自定义颜色 </a:t>
                      </a:r>
                      <a:r>
                        <a:rPr lang="en-US" altLang="zh-CN" sz="1200" b="0">
                          <a:effectLst/>
                        </a:rPr>
                        <a:t>/ </a:t>
                      </a:r>
                      <a:r>
                        <a:rPr lang="zh-CN" altLang="en-US" sz="1200" b="0">
                          <a:effectLst/>
                        </a:rPr>
                        <a:t>粗细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283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Vertical Line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纵向分隔界面元素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无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分割左右面板、分隔并列控件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纯装饰、与 </a:t>
                      </a:r>
                      <a:r>
                        <a:rPr lang="en-US" sz="1200" b="0">
                          <a:effectLst/>
                        </a:rPr>
                        <a:t>Horizontal Line </a:t>
                      </a:r>
                      <a:r>
                        <a:rPr lang="zh-CN" altLang="en-US" sz="1200" b="0">
                          <a:effectLst/>
                        </a:rPr>
                        <a:t>功能互补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207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OpenGL Widget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基于 </a:t>
                      </a:r>
                      <a:r>
                        <a:rPr lang="en-US" sz="1200" b="0">
                          <a:effectLst/>
                        </a:rPr>
                        <a:t>OpenGL </a:t>
                      </a:r>
                      <a:r>
                        <a:rPr lang="zh-CN" altLang="en-US" sz="1200" b="0">
                          <a:effectLst/>
                        </a:rPr>
                        <a:t>的 </a:t>
                      </a:r>
                      <a:r>
                        <a:rPr lang="en-US" altLang="zh-CN" sz="1200" b="0">
                          <a:effectLst/>
                        </a:rPr>
                        <a:t>3</a:t>
                      </a:r>
                      <a:r>
                        <a:rPr lang="en-US" sz="1200" b="0">
                          <a:effectLst/>
                        </a:rPr>
                        <a:t>D / </a:t>
                      </a:r>
                      <a:r>
                        <a:rPr lang="zh-CN" altLang="en-US" sz="1200" b="0">
                          <a:effectLst/>
                        </a:rPr>
                        <a:t>高性能 </a:t>
                      </a:r>
                      <a:r>
                        <a:rPr lang="en-US" altLang="zh-CN" sz="1200" b="0">
                          <a:effectLst/>
                        </a:rPr>
                        <a:t>2</a:t>
                      </a:r>
                      <a:r>
                        <a:rPr lang="en-US" sz="1200" b="0">
                          <a:effectLst/>
                        </a:rPr>
                        <a:t>D </a:t>
                      </a:r>
                      <a:r>
                        <a:rPr lang="zh-CN" altLang="en-US" sz="1200" b="0">
                          <a:effectLst/>
                        </a:rPr>
                        <a:t>渲染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需自定义交互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altLang="zh-CN" sz="1200" b="0">
                          <a:effectLst/>
                        </a:rPr>
                        <a:t>3D </a:t>
                      </a:r>
                      <a:r>
                        <a:rPr lang="zh-CN" altLang="en-US" sz="1200" b="0">
                          <a:effectLst/>
                        </a:rPr>
                        <a:t>建模、游戏引擎、科学可视化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直接调用 </a:t>
                      </a:r>
                      <a:r>
                        <a:rPr lang="en-US" sz="1200" b="0">
                          <a:effectLst/>
                        </a:rPr>
                        <a:t>OpenGL API、</a:t>
                      </a:r>
                      <a:r>
                        <a:rPr lang="zh-CN" altLang="en-US" sz="1200" b="0">
                          <a:effectLst/>
                        </a:rPr>
                        <a:t>高性能图形处理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169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QQuickWidget</a:t>
                      </a:r>
                      <a:endParaRPr lang="en-US" sz="1200" b="0">
                        <a:effectLst/>
                      </a:endParaRP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嵌入 </a:t>
                      </a:r>
                      <a:r>
                        <a:rPr lang="en-US" sz="1200" b="0">
                          <a:effectLst/>
                        </a:rPr>
                        <a:t>Qt Quick（QML）</a:t>
                      </a:r>
                      <a:r>
                        <a:rPr lang="zh-CN" altLang="en-US" sz="1200" b="0">
                          <a:effectLst/>
                        </a:rPr>
                        <a:t>内容到 </a:t>
                      </a:r>
                      <a:r>
                        <a:rPr lang="en-US" sz="1200" b="0">
                          <a:effectLst/>
                        </a:rPr>
                        <a:t>Widgets </a:t>
                      </a:r>
                      <a:r>
                        <a:rPr lang="zh-CN" altLang="en-US" sz="1200" b="0">
                          <a:effectLst/>
                        </a:rPr>
                        <a:t>界面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继承 </a:t>
                      </a:r>
                      <a:r>
                        <a:rPr lang="en-US" altLang="zh-CN" sz="1200" b="0">
                          <a:effectLst/>
                        </a:rPr>
                        <a:t>QML </a:t>
                      </a:r>
                      <a:r>
                        <a:rPr lang="zh-CN" altLang="en-US" sz="1200" b="0">
                          <a:effectLst/>
                        </a:rPr>
                        <a:t>交互逻辑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en-US" sz="1200" b="0">
                          <a:effectLst/>
                        </a:rPr>
                        <a:t>Widgets </a:t>
                      </a:r>
                      <a:r>
                        <a:rPr lang="zh-CN" altLang="en-US" sz="1200" b="0">
                          <a:effectLst/>
                        </a:rPr>
                        <a:t>与 </a:t>
                      </a:r>
                      <a:r>
                        <a:rPr lang="en-US" sz="1200" b="0">
                          <a:effectLst/>
                        </a:rPr>
                        <a:t>QML </a:t>
                      </a:r>
                      <a:r>
                        <a:rPr lang="zh-CN" altLang="en-US" sz="1200" b="0">
                          <a:effectLst/>
                        </a:rPr>
                        <a:t>混合编程的界面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  <a:buNone/>
                      </a:pPr>
                      <a:r>
                        <a:rPr lang="zh-CN" altLang="en-US" sz="1200" b="0">
                          <a:effectLst/>
                        </a:rPr>
                        <a:t>桥接 </a:t>
                      </a:r>
                      <a:r>
                        <a:rPr lang="en-US" sz="1200" b="0">
                          <a:effectLst/>
                        </a:rPr>
                        <a:t>Widgets </a:t>
                      </a:r>
                      <a:r>
                        <a:rPr lang="zh-CN" altLang="en-US" sz="1200" b="0">
                          <a:effectLst/>
                        </a:rPr>
                        <a:t>和 </a:t>
                      </a:r>
                      <a:r>
                        <a:rPr lang="en-US" sz="1200" b="0">
                          <a:effectLst/>
                        </a:rPr>
                        <a:t>QML、</a:t>
                      </a:r>
                      <a:r>
                        <a:rPr lang="zh-CN" altLang="en-US" sz="1200" b="0">
                          <a:effectLst/>
                        </a:rPr>
                        <a:t>支持动态交互界面</a:t>
                      </a:r>
                    </a:p>
                  </a:txBody>
                  <a:tcPr marL="54392" marR="5439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3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064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79FF-2182-4D46-CA05-D6B4A37F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C7C05F3-90D7-68F8-205C-1E40FDE664A9}"/>
              </a:ext>
            </a:extLst>
          </p:cNvPr>
          <p:cNvSpPr txBox="1"/>
          <p:nvPr/>
        </p:nvSpPr>
        <p:spPr>
          <a:xfrm>
            <a:off x="3951823" y="2767280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/>
              <a:t>信号与槽</a:t>
            </a:r>
          </a:p>
        </p:txBody>
      </p:sp>
    </p:spTree>
    <p:extLst>
      <p:ext uri="{BB962C8B-B14F-4D97-AF65-F5344CB8AC3E}">
        <p14:creationId xmlns:p14="http://schemas.microsoft.com/office/powerpoint/2010/main" val="1646900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D0FA029-E43D-FEEA-12BA-CCFCFCB83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3F1679F-9DFC-4D3B-766D-0A195DAE65B7}"/>
              </a:ext>
            </a:extLst>
          </p:cNvPr>
          <p:cNvSpPr/>
          <p:nvPr/>
        </p:nvSpPr>
        <p:spPr>
          <a:xfrm>
            <a:off x="3225175" y="4489938"/>
            <a:ext cx="2571887" cy="8398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B68A73-160E-D92C-4FC3-233036605354}"/>
              </a:ext>
            </a:extLst>
          </p:cNvPr>
          <p:cNvSpPr/>
          <p:nvPr/>
        </p:nvSpPr>
        <p:spPr>
          <a:xfrm>
            <a:off x="10026025" y="1301750"/>
            <a:ext cx="1861175" cy="466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2DC56E-FB98-57CE-4991-587F574864F3}"/>
              </a:ext>
            </a:extLst>
          </p:cNvPr>
          <p:cNvSpPr/>
          <p:nvPr/>
        </p:nvSpPr>
        <p:spPr>
          <a:xfrm>
            <a:off x="3225174" y="4834140"/>
            <a:ext cx="678611" cy="4956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983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312FFD6-299B-A671-FC7E-1AC3F0CF3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3889801-B388-CD48-5B33-87B2E60F1C88}"/>
              </a:ext>
            </a:extLst>
          </p:cNvPr>
          <p:cNvSpPr/>
          <p:nvPr/>
        </p:nvSpPr>
        <p:spPr>
          <a:xfrm>
            <a:off x="3402974" y="2357641"/>
            <a:ext cx="1048376" cy="442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D9C00A-13F9-3B6B-C6E7-E91A03A65108}"/>
              </a:ext>
            </a:extLst>
          </p:cNvPr>
          <p:cNvSpPr/>
          <p:nvPr/>
        </p:nvSpPr>
        <p:spPr>
          <a:xfrm>
            <a:off x="4044324" y="4478541"/>
            <a:ext cx="1626226" cy="296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803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384ACE8-F118-9A01-3054-6440DAA9E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79" y="0"/>
            <a:ext cx="11489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7932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6639</Words>
  <Application>Microsoft Office PowerPoint</Application>
  <PresentationFormat>宽屏</PresentationFormat>
  <Paragraphs>376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Arial Unicode MS</vt:lpstr>
      <vt:lpstr>Inter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JiaKun Liang</dc:creator>
  <cp:lastModifiedBy>JiaKun Liang</cp:lastModifiedBy>
  <cp:revision>399</cp:revision>
  <dcterms:created xsi:type="dcterms:W3CDTF">2023-08-09T12:44:00Z</dcterms:created>
  <dcterms:modified xsi:type="dcterms:W3CDTF">2025-08-30T10:40:41Z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